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5ba93ec73343aa" /><Relationship Type="http://schemas.openxmlformats.org/officeDocument/2006/relationships/extended-properties" Target="/docProps/app.xml" Id="Rbcfbc06afacc4923" /><Relationship Type="http://schemas.openxmlformats.org/officeDocument/2006/relationships/officeDocument" Target="/ppt/presentation.xml" Id="R449d98c2f10a42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e2f24cb52c43d8"/>
  </p:sldMasterIdLst>
  <p:notesMasterIdLst>
    <p:notesMasterId xmlns:r="http://schemas.openxmlformats.org/officeDocument/2006/relationships" r:id="R141c00559fa342eb"/>
  </p:notesMasterIdLst>
  <p:sldIdLst>
    <p:sldId xmlns:r="http://schemas.openxmlformats.org/officeDocument/2006/relationships" id="256" r:id="R04fe55c5330f4a7c"/>
    <p:sldId xmlns:r="http://schemas.openxmlformats.org/officeDocument/2006/relationships" id="257" r:id="Rc30e1033f6014669"/>
    <p:sldId xmlns:r="http://schemas.openxmlformats.org/officeDocument/2006/relationships" id="258" r:id="R14f2afd8ae4a43c2"/>
    <p:sldId xmlns:r="http://schemas.openxmlformats.org/officeDocument/2006/relationships" id="259" r:id="R6ccdc521caa941ed"/>
    <p:sldId xmlns:r="http://schemas.openxmlformats.org/officeDocument/2006/relationships" id="260" r:id="Rb4c5f6c2dd46490d"/>
    <p:sldId xmlns:r="http://schemas.openxmlformats.org/officeDocument/2006/relationships" id="261" r:id="R132f2b168fff43f7"/>
    <p:sldId xmlns:r="http://schemas.openxmlformats.org/officeDocument/2006/relationships" id="262" r:id="R74b9d1cf429d40ca"/>
    <p:sldId xmlns:r="http://schemas.openxmlformats.org/officeDocument/2006/relationships" id="263" r:id="Rf53a50c64f134b13"/>
    <p:sldId xmlns:r="http://schemas.openxmlformats.org/officeDocument/2006/relationships" id="264" r:id="R346f1eab2e0143ae"/>
    <p:sldId xmlns:r="http://schemas.openxmlformats.org/officeDocument/2006/relationships" id="265" r:id="Rb3ac10634d1848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7c90b70dfa4fbe" /><Relationship Type="http://schemas.openxmlformats.org/officeDocument/2006/relationships/slideMaster" Target="/ppt/slideMasters/slideMaster1.xml" Id="R22e2f24cb52c43d8" /><Relationship Type="http://schemas.openxmlformats.org/officeDocument/2006/relationships/notesMaster" Target="/ppt/notesMasters/notesMaster1.xml" Id="R141c00559fa342eb" /><Relationship Type="http://schemas.openxmlformats.org/officeDocument/2006/relationships/presProps" Target="/ppt/presProps.xml" Id="R175778c7ca2d4ea9" /><Relationship Type="http://schemas.openxmlformats.org/officeDocument/2006/relationships/tableStyles" Target="/ppt/tableStyles.xml" Id="Rb463ebd0a08d4bc0" /><Relationship Type="http://schemas.openxmlformats.org/officeDocument/2006/relationships/slide" Target="/ppt/slides/slide1.xml" Id="R04fe55c5330f4a7c" /><Relationship Type="http://schemas.openxmlformats.org/officeDocument/2006/relationships/slide" Target="/ppt/slides/slide2.xml" Id="Rc30e1033f6014669" /><Relationship Type="http://schemas.openxmlformats.org/officeDocument/2006/relationships/slide" Target="/ppt/slides/slide3.xml" Id="R14f2afd8ae4a43c2" /><Relationship Type="http://schemas.openxmlformats.org/officeDocument/2006/relationships/slide" Target="/ppt/slides/slide4.xml" Id="R6ccdc521caa941ed" /><Relationship Type="http://schemas.openxmlformats.org/officeDocument/2006/relationships/slide" Target="/ppt/slides/slide5.xml" Id="Rb4c5f6c2dd46490d" /><Relationship Type="http://schemas.openxmlformats.org/officeDocument/2006/relationships/slide" Target="/ppt/slides/slide6.xml" Id="R132f2b168fff43f7" /><Relationship Type="http://schemas.openxmlformats.org/officeDocument/2006/relationships/slide" Target="/ppt/slides/slide7.xml" Id="R74b9d1cf429d40ca" /><Relationship Type="http://schemas.openxmlformats.org/officeDocument/2006/relationships/slide" Target="/ppt/slides/slide8.xml" Id="Rf53a50c64f134b13" /><Relationship Type="http://schemas.openxmlformats.org/officeDocument/2006/relationships/slide" Target="/ppt/slides/slide9.xml" Id="R346f1eab2e0143ae" /><Relationship Type="http://schemas.openxmlformats.org/officeDocument/2006/relationships/slide" Target="/ppt/slides/slide10.xml" Id="Rb3ac10634d1848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29573f8acd4e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37008809414e90" /><Relationship Type="http://schemas.openxmlformats.org/officeDocument/2006/relationships/notesMaster" Target="/ppt/notesMasters/notesMaster1.xml" Id="R632aff72a151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5ec9f946804451" /><Relationship Type="http://schemas.openxmlformats.org/officeDocument/2006/relationships/notesMaster" Target="/ppt/notesMasters/notesMaster1.xml" Id="Rb395408ea6a148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a614ff82e14ad3" /><Relationship Type="http://schemas.openxmlformats.org/officeDocument/2006/relationships/notesMaster" Target="/ppt/notesMasters/notesMaster1.xml" Id="Rdd59d356e02941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4e0bca91cf4627" /><Relationship Type="http://schemas.openxmlformats.org/officeDocument/2006/relationships/notesMaster" Target="/ppt/notesMasters/notesMaster1.xml" Id="R0a9c1578cd4541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bd83fe274f485a" /><Relationship Type="http://schemas.openxmlformats.org/officeDocument/2006/relationships/notesMaster" Target="/ppt/notesMasters/notesMaster1.xml" Id="R2f6e41260db844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cbd011f5b34972" /><Relationship Type="http://schemas.openxmlformats.org/officeDocument/2006/relationships/notesMaster" Target="/ppt/notesMasters/notesMaster1.xml" Id="Rb1ccf995551f41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f14688c0954e90" /><Relationship Type="http://schemas.openxmlformats.org/officeDocument/2006/relationships/notesMaster" Target="/ppt/notesMasters/notesMaster1.xml" Id="R3e6d629c605c41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48e5a2811242ca" /><Relationship Type="http://schemas.openxmlformats.org/officeDocument/2006/relationships/notesMaster" Target="/ppt/notesMasters/notesMaster1.xml" Id="R54a1fe64b6c346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f7fd89841542fa" /><Relationship Type="http://schemas.openxmlformats.org/officeDocument/2006/relationships/notesMaster" Target="/ppt/notesMasters/notesMaster1.xml" Id="Rb8322415c3f448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84fcfb2be647c4" /><Relationship Type="http://schemas.openxmlformats.org/officeDocument/2006/relationships/notesMaster" Target="/ppt/notesMasters/notesMaster1.xml" Id="Raa8aec4ba69540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Aula introdutória com base sintética. Fonte conceitual: material anexado, UA8 – Pré-processamento de dados.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Orientar os estudantes a abrir o notebook no celular. O link completo está no material da aula. Não é necessário instalar Python.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cartaz 001 resume os conceitos de dado, variável, registro, qualidade e pré-processamento. Não classificar automaticamente todo valor extremo como erro.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Prática em dupla: um estudante digita e o outro explica a saída. Não aprofundar tipos além do necessário.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Reforçar que listas representam coleções e dicionários representam atributos de uma amostra. O laço for será retomado ao calcular sequências.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base tem 24 amostras, 10 colunas e dois valores ausentes. Os estudantes devem observar antes de calcular.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uma coluna calculada deve ter significado claro e fórmula rastreável. O percentual GC é um indicador didático, não uma conclusão clínica.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gráfico usa dados sintéticos da base. O objetivo é aprender a ler a visualização, não fazer inferência sobre tratamentos reais.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cartaz 006 apresenta tipos de gráficos. Reforçar que escolher o gráfico depende da pergunta e do tipo de variável.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com duas perguntas. A captura de tela pode ser enviada no ambiente da turma, conforme a orientação da professora.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3944499154f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a584324a054104" /><Relationship Type="http://schemas.openxmlformats.org/officeDocument/2006/relationships/slideLayout" Target="/ppt/slideLayouts/slideLayout1.xml" Id="R8aded6f880834a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ded6f880834a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4034586174c3f" /><Relationship Type="http://schemas.openxmlformats.org/officeDocument/2006/relationships/notesSlide" Target="/ppt/notesSlides/notesSlide1.xml" Id="Rd5e987303b3943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855e783e14ff8" /><Relationship Type="http://schemas.openxmlformats.org/officeDocument/2006/relationships/notesSlide" Target="/ppt/notesSlides/notesSlide2.xml" Id="R908fd865d3bd42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8548fef8f451e" /><Relationship Type="http://schemas.openxmlformats.org/officeDocument/2006/relationships/image" Target="/ppt/media/image.png" Id="Rbb2041bba8524d4e" /><Relationship Type="http://schemas.openxmlformats.org/officeDocument/2006/relationships/notesSlide" Target="/ppt/notesSlides/notesSlide3.xml" Id="R4a131da5a6684b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d0d5602cf443f" /><Relationship Type="http://schemas.openxmlformats.org/officeDocument/2006/relationships/notesSlide" Target="/ppt/notesSlides/notesSlide4.xml" Id="R6dab48ce94ec4d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6d1717be6454f" /><Relationship Type="http://schemas.openxmlformats.org/officeDocument/2006/relationships/notesSlide" Target="/ppt/notesSlides/notesSlide5.xml" Id="R4f9a9d85f89345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215e35a9248b9" /><Relationship Type="http://schemas.openxmlformats.org/officeDocument/2006/relationships/notesSlide" Target="/ppt/notesSlides/notesSlide6.xml" Id="R5b9a8f0cbcd044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6d2a70fab49f4" /><Relationship Type="http://schemas.openxmlformats.org/officeDocument/2006/relationships/notesSlide" Target="/ppt/notesSlides/notesSlide7.xml" Id="R71d6a0314f5044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039d3bec24727" /><Relationship Type="http://schemas.openxmlformats.org/officeDocument/2006/relationships/notesSlide" Target="/ppt/notesSlides/notesSlide8.xml" Id="R8740bef0b07746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be9cb5ac44229" /><Relationship Type="http://schemas.openxmlformats.org/officeDocument/2006/relationships/image" Target="/ppt/media/image2.png" Id="R194e39b3dc9f4fea" /><Relationship Type="http://schemas.openxmlformats.org/officeDocument/2006/relationships/notesSlide" Target="/ppt/notesSlides/notesSlide9.xml" Id="R0206f1ef200448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43f136c1a4385" /><Relationship Type="http://schemas.openxmlformats.org/officeDocument/2006/relationships/notesSlide" Target="/ppt/notesSlides/notesSlide10.xml" Id="R7dbb9e078de849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565C9-24F4-4C3E-A928-2EB53191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PYTHON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AA267-4140-4E0C-9801-DC3E9D00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8BE0D2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8BE0D2"/>
                </a:solidFill>
                <a:latin typeface="Helvetica"/>
                <a:ea typeface="Helvetica"/>
                <a:cs typeface="Helvetica"/>
              </a:rPr>
              <a:t>Dados biológicos no celular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848CB-01FA-4D35-979A-64E551AD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Uma aula prática de 60 minutos com Google Colab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6041E-1A3B-4977-85F5-D9A24C34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85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3DB55-378C-446F-BC9B-4EBEAEA3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Biomedicina • Farmácia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C0040-A653-4F80-A6AC-EC4D7E48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AF2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DCEAF2"/>
                </a:solidFill>
                <a:latin typeface="Helvetica"/>
                <a:ea typeface="Helvetica"/>
                <a:cs typeface="Helvetica"/>
              </a:rPr>
              <a:t>A estudante observa os dados, testa comandos e interpreta resultados.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8D960-A883-480B-8516-95231D44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862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02A66A-232C-4DE3-84E9-E6ABD222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7192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60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197CC-42A8-4625-949F-A10C5F64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482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E9B6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EFEC2-A2FF-444B-9CE2-99EED664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33925"/>
            <a:ext cx="144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COLAB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8C97B-8404-45FE-B0F3-84A89890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FC5D4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AFC5D4"/>
                </a:solidFill>
                <a:latin typeface="Helvetica"/>
                <a:ea typeface="Helvetica"/>
                <a:cs typeface="Helvetica"/>
              </a:rPr>
              <a:t>Base sintética para ensino</a:t>
            </a:r>
          </a:p>
        </p:txBody>
      </p:sp>
    </p:spTree>
    <p:extLst>
      <p:ext uri="{BB962C8B-B14F-4D97-AF65-F5344CB8AC3E}">
        <p14:creationId xmlns:p14="http://schemas.microsoft.com/office/powerpoint/2010/main" val="342568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EF0BBB-59DA-402A-97BF-41E23C6A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rPr>
              <a:t>COMO A AULA VAI FUNCIONAR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58297-AEEB-413C-8890-6E16F88A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Roteiro de 60 minutos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10BFE-4CEC-4CD2-AEDB-AB29AC97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09E30-AEC7-4B49-ACF7-D1A3CA85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00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C963C-C2FB-4255-9B42-771B1FC0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733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66ECD-F344-4C88-9391-F290FE27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002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Dados e qualidade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436EA-2443-4F6C-B613-F396273D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487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607487"/>
                </a:solidFill>
                <a:latin typeface="Helvetica"/>
                <a:ea typeface="Helvetica"/>
                <a:cs typeface="Helvetica"/>
              </a:rPr>
              <a:t>8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64672-C72C-423B-A971-9D71E1A7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1000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9B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C1B47-D2AD-4943-A01B-2A163857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733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1–2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1F61A-BFD7-498E-9E84-AFA16DA9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955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Variáveis, listas e dicionários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A1DA6-0BC3-4B54-BDD4-70C84BC2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955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487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607487"/>
                </a:solidFill>
                <a:latin typeface="Helvetica"/>
                <a:ea typeface="Helvetica"/>
                <a:cs typeface="Helvetica"/>
              </a:rPr>
              <a:t>12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E0AAC-D3FE-46B4-A90E-62FBB1B7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000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58EC7-A1E7-45AD-91A2-4404F8EC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733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3–4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9DF58-25F4-4FEA-81DE-CB3787AD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908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CSV e tabelas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D88DE-4C6A-4CFF-940C-B0EBF901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908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487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607487"/>
                </a:solidFill>
                <a:latin typeface="Helvetica"/>
                <a:ea typeface="Helvetica"/>
                <a:cs typeface="Helvetica"/>
              </a:rPr>
              <a:t>15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E6985-8BD6-4FAB-8500-FDBE36C5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000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C6F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97CC49-FB89-4E8A-8F24-4FA493F0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733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5–6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17963A-B1AA-4E7F-8176-5177AEA6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861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Gráficos e interpretação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844A7-1F63-4E72-80FA-B87613CC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8617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487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607487"/>
                </a:solidFill>
                <a:latin typeface="Helvetica"/>
                <a:ea typeface="Helvetica"/>
                <a:cs typeface="Helvetica"/>
              </a:rPr>
              <a:t>15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DF50BF-C44F-4313-AF47-3C004B1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0001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49800-C933-4374-AF3F-5A518571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733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B72E9-82AA-4668-8281-1C36107A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81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Desafio final e compartilhamento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F1A9C9-851C-425C-99BC-9EDFB3DE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07487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607487"/>
                </a:solidFill>
                <a:latin typeface="Helvetica"/>
                <a:ea typeface="Helvetica"/>
                <a:cs typeface="Helvetica"/>
              </a:rPr>
              <a:t>10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FB1696-EDA6-43DC-AD1F-B4242D1A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FF5F0"/>
          </a:solidFill>
          <a:ln xmlns:a="http://schemas.openxmlformats.org/drawingml/2006/main" w="19050">
            <a:solidFill>
              <a:srgbClr val="0EA5A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4869B5-F7AE-4404-A7EA-72687DB6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52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NO CELULAR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1AC15-4F10-4A38-AF5E-3E08E37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1. Abra o link</a:t>
            </a:r>
          </a:p>
          <a:p xmlns:a="http://schemas.openxmlformats.org/drawingml/2006/main">
            <a:pPr>
              <a:defRPr sz="13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2. Toque em ▶</a:t>
            </a:r>
          </a:p>
          <a:p xmlns:a="http://schemas.openxmlformats.org/drawingml/2006/main">
            <a:pPr>
              <a:defRPr sz="13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3. Digite</a:t>
            </a:r>
          </a:p>
          <a:p xmlns:a="http://schemas.openxmlformats.org/drawingml/2006/main">
            <a:pPr>
              <a:defRPr sz="13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4. Execute a célula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FFF3B8-F0B8-4CA5-AD36-0B866A45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Regra da aula: cada explicação termina com uma prática curta.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5B1274-5667-4425-AFA0-F13ED6EA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EA5A8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0EA5A8"/>
                </a:solidFill>
                <a:latin typeface="Helvetica"/>
                <a:ea typeface="Helvetica"/>
                <a:cs typeface="Helvetica"/>
              </a:rPr>
              <a:t>Link: colab.research.google.com</a:t>
            </a:r>
          </a:p>
        </p:txBody>
      </p:sp>
    </p:spTree>
    <p:extLst>
      <p:ext uri="{BB962C8B-B14F-4D97-AF65-F5344CB8AC3E}">
        <p14:creationId xmlns:p14="http://schemas.microsoft.com/office/powerpoint/2010/main" val="473159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A79AC-7463-4687-848F-BABEB57F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rPr>
              <a:t>PRÉ-PROCESSAMENTO E QUALIDADE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A1576-8AE4-4904-B908-54EAC4A3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001 — Dados antes do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7E9E1-E81D-40D7-89CD-AB460D8F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041bba8524d4e"/>
          <a:stretch xmlns:a="http://schemas.openxmlformats.org/drawingml/2006/main"/>
        </p:blipFill>
        <p:spPr>
          <a:xfrm xmlns:a="http://schemas.openxmlformats.org/drawingml/2006/main">
            <a:off x="666750" y="1428750"/>
            <a:ext cx="447675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62FD7-E7A4-47E4-BB78-A209CAA3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428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F2F8D-58E6-4DCB-8BCC-17B5129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04975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PENSE COMO NO LABORATÓRIO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0CB9B-4F5B-4A72-862D-43BBF5AD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Antes de analisar uma amostra, verificamos identificação, condições e qualidade. Com dados, fazemos o mesmo.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DBFC9-587B-429F-8385-FA3CC684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2095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E9B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D7D0F-2885-4D19-B0F8-2F898B46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718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5 PERGUNTAS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7DF28-9C68-4209-ABED-9A6F96E7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10000"/>
            <a:ext cx="533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Completo? Há valores ausentes?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Consistente? O padrão é igual?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Válido? O formato está correto?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Coerente? O valor é plausível?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Único? Há duplicações?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33BD5-A9F7-4828-8294-2A7C009A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626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28C28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28C28"/>
                </a:solidFill>
                <a:latin typeface="Helvetica"/>
                <a:ea typeface="Helvetica"/>
                <a:cs typeface="Helvetica"/>
              </a:rPr>
              <a:t>Pré-processar significa preparar os dados para a análise.</a:t>
            </a:r>
          </a:p>
        </p:txBody>
      </p:sp>
    </p:spTree>
    <p:extLst>
      <p:ext uri="{BB962C8B-B14F-4D97-AF65-F5344CB8AC3E}">
        <p14:creationId xmlns:p14="http://schemas.microsoft.com/office/powerpoint/2010/main" val="20533649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CABC16-C256-4329-A8AF-E3B82857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rPr>
              <a:t>PRIMEIRO COMANDO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D34EC-7BA7-4A64-A212-95F29B0F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1 — Variáveis, leitura e impressão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97F15-9B93-4804-A409-F4FEF488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27379-14AF-4148-AD2E-ABA3BAEF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Uma variável guarda um valor. O programa recebe uma entrada, processa e mostra uma saída.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D1D5D-8563-46E8-B700-56D595AD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5810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5C85A-4A57-40C0-ADB0-3389593E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95525"/>
            <a:ext cx="53911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nome = input('Seu nome: ')</a:t>
            </a:r>
          </a:p>
          <a:p xmlns:a="http://schemas.openxmlformats.org/drawingml/2006/main">
            <a:pPr>
              <a:defRPr sz="165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sequencia = input('Sequência: ').upper()</a:t>
            </a:r>
          </a:p>
          <a:p xmlns:a="http://schemas.openxmlformats.org/drawingml/2006/main">
            <a:pPr>
              <a:defRPr sz="165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tamanho = len(sequencia)</a:t>
            </a:r>
          </a:p>
          <a:p xmlns:a="http://schemas.openxmlformats.org/drawingml/2006/main">
            <a:pPr>
              <a:defRPr sz="165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print('Tamanho:', tamanho)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B9B49-2399-43D0-91A7-29BB3176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3143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FB2B7-625B-4E3E-8165-CB979F61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288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PRÁTICA 1 • 4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71417-CE7E-44D8-9526-05B5EE2F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361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Digite uma sequência curta, por exemplo: ATGCGTAC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Responda no caderno:</a:t>
            </a:r>
          </a:p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• Qual valor ficou em nome?</a:t>
            </a:r>
          </a:p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• Qual valor ficou em tamanho?</a:t>
            </a:r>
          </a:p>
          <a:p xmlns:a="http://schemas.openxmlformats.org/drawingml/2006/main">
            <a:pPr>
              <a:defRPr sz="1575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• O que .upper() fez?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E21E86-5251-4076-9290-D18B3135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2B10F-5FDE-4CAD-B8F3-D0EDDA9B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33975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IDEIA-CHAVE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7938F-BB41-4EDF-BD62-36153312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0540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Texto é str. Número inteiro é int. A função len() conta caracteres.</a:t>
            </a:r>
          </a:p>
        </p:txBody>
      </p:sp>
    </p:spTree>
    <p:extLst>
      <p:ext uri="{BB962C8B-B14F-4D97-AF65-F5344CB8AC3E}">
        <p14:creationId xmlns:p14="http://schemas.microsoft.com/office/powerpoint/2010/main" val="6818218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C4127C-0855-4424-8C63-C3E577B2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rPr>
              <a:t>ORGANIZAR VÁRIOS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AFCFC-B53C-4545-8D67-10FCB93D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2 — Listas, dicionários e repetição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D49DC-526D-48AE-9837-795491AF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ACB67-F2EF-4DF6-8A86-9B88B348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714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C3D29-88C3-49DA-B73A-27ADBB41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972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LISTA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0EA71-3E20-4038-895D-E4EB1E0B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8ABE6-8172-4433-B9A7-D6C03436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sequencias = ['ATGC', 'GGCC', 'AATT']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print(sequencias[0])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EB78C-DAB5-4E09-9076-638BAC00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Vários valores em ordem. O primeiro índice é 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0C99E-704C-480C-9B30-2476B3CD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E9B6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3FBBC-A6D7-48B0-AF4E-BDE68502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0972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DICIONÁRIO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F14FF-5A4D-4D12-8F18-18CCA8E6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762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7D94F-D6B2-4DF9-A5FE-EAFC08EA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47900"/>
            <a:ext cx="4343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amostra = {</a:t>
            </a:r>
          </a:p>
          <a:p xmlns:a="http://schemas.openxmlformats.org/drawingml/2006/main">
            <a:pPr>
              <a:defRPr sz="142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  'id': 'A01',</a:t>
            </a:r>
          </a:p>
          <a:p xmlns:a="http://schemas.openxmlformats.org/drawingml/2006/main">
            <a:pPr>
              <a:defRPr sz="142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  'grupo': 'Controle',</a:t>
            </a:r>
          </a:p>
          <a:p xmlns:a="http://schemas.openxmlformats.org/drawingml/2006/main">
            <a:pPr>
              <a:defRPr sz="142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  'sequencia': 'ATGCGT'</a:t>
            </a:r>
          </a:p>
          <a:p xmlns:a="http://schemas.openxmlformats.org/drawingml/2006/main">
            <a:pPr>
              <a:defRPr sz="142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>
              <a:defRPr sz="142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print(amostra['grupo'])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2173C5-D7D5-463E-8956-F86BD11B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Uma chave identifica cada informação.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1E93E-CFDA-4233-B941-466B1925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43A33-9680-4E50-9FB3-EB028797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PRÁTICA 2 • 5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324F3-BA63-468E-97ED-0282A254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43500"/>
            <a:ext cx="676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Crie uma lista com três sequências e use for para imprimir o tamanho de cada uma.</a:t>
            </a:r>
          </a:p>
        </p:txBody>
      </p:sp>
    </p:spTree>
    <p:extLst>
      <p:ext uri="{BB962C8B-B14F-4D97-AF65-F5344CB8AC3E}">
        <p14:creationId xmlns:p14="http://schemas.microsoft.com/office/powerpoint/2010/main" val="13563622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B72C0-2DD7-45C1-8E68-86A6AD72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rPr>
              <a:t>A BASE VIRA UMA TABELA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FFBD8-EC93-4608-AA86-A15A6537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3 — Ler um arquivo 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5F855-307A-4454-A32B-25D2ED6F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2E88C-17C6-49A4-AE25-ADB6CE33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191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2F4F7"/>
          </a:solidFill>
          <a:ln xmlns:a="http://schemas.openxmlformats.org/drawingml/2006/main" w="19050">
            <a:solidFill>
              <a:srgbClr val="0EA5A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E95E5-1B9C-43A2-A7A9-787E489E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EA5A8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0EA5A8"/>
                </a:solidFill>
                <a:latin typeface="Helvetica"/>
                <a:ea typeface="Helvetica"/>
                <a:cs typeface="Helvetica"/>
              </a:rPr>
              <a:t>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9D43F-5C89-4BE3-980F-84453D2D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193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Linhas e colunas</a:t>
            </a:r>
          </a:p>
          <a:p xmlns:a="http://schemas.openxmlformats.org/drawingml/2006/main">
            <a:pPr>
              <a:defRPr sz="19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separadas por vírgulas.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7B3DD-974E-4839-8C50-8CD39033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19500"/>
            <a:ext cx="3381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id_amostra,grupo,sequencia</a:t>
            </a:r>
          </a:p>
          <a:p xmlns:a="http://schemas.openxmlformats.org/drawingml/2006/main">
            <a:pPr>
              <a:defRPr sz="1200" b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A01,Controle,ATGCGTAC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8530F-2547-491C-8449-559EBDF3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5429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176F1-0692-41CA-B4CE-1A1CE0FB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71650"/>
            <a:ext cx="5010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import pandas as pd</a:t>
            </a:r>
          </a:p>
          <a:p xmlns:a="http://schemas.openxmlformats.org/drawingml/2006/main">
            <a:pPr>
              <a:def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dados = pd.read_csv(</a:t>
            </a:r>
          </a:p>
          <a:p xmlns:a="http://schemas.openxmlformats.org/drawingml/2006/main">
            <a:pPr>
              <a:def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  'base_python0_bioinformatica.csv'</a:t>
            </a:r>
          </a:p>
          <a:p xmlns:a="http://schemas.openxmlformats.org/drawingml/2006/main">
            <a:pPr>
              <a:def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)</a:t>
            </a:r>
          </a:p>
          <a:p xmlns:a="http://schemas.openxmlformats.org/drawingml/2006/main">
            <a:pPr>
              <a:def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print(dados.head())</a:t>
            </a:r>
          </a:p>
          <a:p xmlns:a="http://schemas.openxmlformats.org/drawingml/2006/main">
            <a:pPr>
              <a:def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print(dados.shape)</a:t>
            </a:r>
          </a:p>
          <a:p xmlns:a="http://schemas.openxmlformats.org/drawingml/2006/main">
            <a:pPr>
              <a:def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print(dados.isna().sum())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C8E6E-110D-46CC-94E8-6ED00DD3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8E4C6-709A-4FCD-B97C-ACC4E700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PRÁTICA 3 • 6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7F192-A26E-456D-AE8C-03FA209F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Carregue o CSV e descubra:</a:t>
            </a:r>
          </a:p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quantas linhas existem, quais são as colunas e onde há valores ausentes.</a:t>
            </a:r>
          </a:p>
        </p:txBody>
      </p:sp>
    </p:spTree>
    <p:extLst>
      <p:ext uri="{BB962C8B-B14F-4D97-AF65-F5344CB8AC3E}">
        <p14:creationId xmlns:p14="http://schemas.microsoft.com/office/powerpoint/2010/main" val="8441852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ADFEF-BB7D-4F98-A513-0F75FBFC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rPr>
              <a:t>DATAFRAME E COLUNAS CALCULADAS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BEB162-CD80-4E54-B38E-FCA267B0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4 — Criar uma tabela analisável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79577-EFA5-4392-B5F1-6E622C6C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730F9-7DB5-424B-9C60-F3F1E74C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A tabela original pode receber novas informações calculadas a partir dos dados existentes.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94D0E-3E8E-4451-A17D-72464EC1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1912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AA49D-0B23-4B1C-87EF-FB4F79EB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0275"/>
            <a:ext cx="57721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dados['tamanho'] = dados['sequencia'].str.len()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dados['quantidade_gc'] = (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  dados['sequencia'].str.count('G')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  + dados['sequencia'].str.count('C')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)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dados['gc_percentual'] = (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  100 * dados['quantidade_gc'] / dados['tamanho']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).round(2)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A3227-F837-4740-9C3C-25F67B39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FD402-C801-404E-B0C6-CD6B5231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8122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36102-2111-4F7E-929F-CB3E8B71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id_amostra   sequencia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A01          ATGCGTAC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B01          ATGCGTGC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94127-FD30-48EA-ACEF-84951F17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E9B6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9D4CA-860F-4A93-9185-F84230DF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0047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DEPOIS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4CDD43-391F-4139-8E86-8DAC1A04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86250"/>
            <a:ext cx="3524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id_amostra   tamanho   GC%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A01          8          50.00</a:t>
            </a:r>
          </a:p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B01          8          62.50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883A0-51CA-4251-9ACC-53E086A8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8C28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F28C28"/>
                </a:solidFill>
                <a:latin typeface="Helvetica"/>
                <a:ea typeface="Helvetica"/>
                <a:cs typeface="Helvetica"/>
              </a:rPr>
              <a:t>PRÁTICA 4 • Calcule o tamanho e o GC da primeira amostra.</a:t>
            </a:r>
          </a:p>
        </p:txBody>
      </p:sp>
    </p:spTree>
    <p:extLst>
      <p:ext uri="{BB962C8B-B14F-4D97-AF65-F5344CB8AC3E}">
        <p14:creationId xmlns:p14="http://schemas.microsoft.com/office/powerpoint/2010/main" val="17626631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F1F7D7-CE61-4681-96E4-3C5B74DF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rPr>
              <a:t>VISUALIZAR PARA COMPARAR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3ABA0-F1B3-4161-986E-4B1C33FB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5 — Criar um gráfico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A6BB2-11DE-4629-A12D-3A1F93DF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638AD-F539-4EDD-8B84-99221D56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B7360-6DD1-4F0A-9B6B-E5E5EF1C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F14E1-DBA1-4C21-9D1B-B2DC487C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Controle: 9,5%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Tratamento_A: 38,75%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324D"/>
                </a:solidFill>
                <a:latin typeface="Courier New"/>
                <a:ea typeface="Courier New"/>
                <a:cs typeface="Courier New"/>
              </a:rPr>
              <a:t>Tratamento_B: 29,43%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3773B-F2AF-43B6-89C8-EA282153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66875"/>
            <a:ext cx="161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5E8AF-2367-468D-9AD5-C58E5AA5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526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CÓDIGO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2CE11-450B-4B82-B8E2-7D7AFFF9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3714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C16B6-4056-41DC-8141-3B638BC5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86025"/>
            <a:ext cx="32956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resumo.plot(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  x='grupo',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  y='resposta_media',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  kind='bar',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  legend=False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)</a:t>
            </a:r>
          </a:p>
          <a:p xmlns:a="http://schemas.openxmlformats.org/drawingml/2006/main">
            <a:pPr>
              <a:def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EAF6F6"/>
                </a:solidFill>
                <a:latin typeface="Courier New"/>
                <a:ea typeface="Courier New"/>
                <a:cs typeface="Courier New"/>
              </a:rPr>
              <a:t>plt.show()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58EFF-9E99-4236-BE5D-7A003539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E9B6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2EF83-0037-4B98-ACEE-9C20EADF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LEITURA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8516F-3E78-4F87-8A38-87EDE6DB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As barras permitem comparar a resposta média entre os grupos.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8D73C-66D6-4F21-A1F1-368B964C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939E7-983F-4F7E-88A4-BFF4BAC4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2922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PRÁTICA 5 • 6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3C5B0-2B19-4F8A-BEC2-E8BE4D36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911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Troque o título, escolha uma cor e explique qual grupo tem maior resposta média.</a:t>
            </a:r>
          </a:p>
        </p:txBody>
      </p:sp>
    </p:spTree>
    <p:extLst>
      <p:ext uri="{BB962C8B-B14F-4D97-AF65-F5344CB8AC3E}">
        <p14:creationId xmlns:p14="http://schemas.microsoft.com/office/powerpoint/2010/main" val="695358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65751-F248-4A46-9B07-2591C934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rPr>
              <a:t>A PERGUNTA GUIA A VISUALIZAÇÃO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E0B8C-9D1D-4753-B136-154D1E4B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6 — Escolher o tipo de gráfico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8380F-0B9A-431E-A96F-A45A6832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4e39b3dc9f4fea"/>
          <a:stretch xmlns:a="http://schemas.openxmlformats.org/drawingml/2006/main"/>
        </p:blipFill>
        <p:spPr>
          <a:xfrm xmlns:a="http://schemas.openxmlformats.org/drawingml/2006/main">
            <a:off x="666750" y="1428750"/>
            <a:ext cx="5715000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A9445-E056-4A0A-B01D-B1BEA970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B5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40B77-FC14-4875-9145-05AAE615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04975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DECISÃO RÁPIDA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71E4D-9CF1-4922-972D-EE282445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361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Comparar grupos: barras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Acompanhar dias: linhas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Partes de um total: setores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Relação entre medidas: dispersão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15BC2-A801-43F7-92BD-333D37DD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3333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806B8-5EA5-4796-B095-80A24D6B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43475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DESAFIO FINAL • 8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5082C-B6C1-45CB-B8BC-0A993304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292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Crie um gráfico de barras do GC médio por grupo e escreva uma frase sobre o resultado.</a:t>
            </a:r>
          </a:p>
        </p:txBody>
      </p:sp>
    </p:spTree>
    <p:extLst>
      <p:ext uri="{BB962C8B-B14F-4D97-AF65-F5344CB8AC3E}">
        <p14:creationId xmlns:p14="http://schemas.microsoft.com/office/powerpoint/2010/main" val="19559499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758D6B-40E8-415B-9DCE-CE6BCF55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0EA5A8"/>
                </a:solidFill>
                <a:latin typeface="Helvetica"/>
                <a:ea typeface="Helvetica"/>
                <a:cs typeface="Helvetica"/>
              </a:rPr>
              <a:t>SAÍDA DA AULA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DCF03-ECE0-4D4B-9C28-E775B02E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25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Fechamento — o que você consegue fazer?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99C88D-2AB6-4FCA-B074-C8F30D1B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D26EF-5869-4DD3-BD94-4607D17C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552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DDDCE-C63C-4AA7-9061-41425074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954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B910D-B08F-4F89-AC2F-B5FEF53A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Carregar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84204-09D9-4C34-B35F-2C7978C8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um CSV no Colab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39A9D-8FD7-4663-95CB-1C4A34F0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09750"/>
            <a:ext cx="552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9B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7166C0-45DC-402C-95C8-9F2A7973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8954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7A1D0-2057-4ABD-8232-D69FB737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Verificar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6704A-D992-4D4E-B78E-F43CCD94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0003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linhas, colunas e ausências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A92B2-714C-4A0C-B95D-007F3C3F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552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1241F-DD03-4111-AAE6-32C3E988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954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E9041-CC43-4027-92C1-7A9703D1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Calcular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A5D1F-0C09-4E67-908F-2DDE6904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03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tamanho e conteúdo GC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7B935-071F-4AF6-BF4A-81F760EF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552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7C6FC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755FB-EE46-4D7A-AEB8-E06BF98B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8954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00DCA-835C-48FD-9C5A-ECFEAD26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Visualizar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0BCD1-E6B8-4C33-A4EC-B81A17A2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03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comparações em gráficos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3F301-25E4-429E-A61F-157B52DC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A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2F5538-B007-4C17-B85D-D64592AC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B5D"/>
                </a:solidFill>
                <a:latin typeface="Helvetica"/>
                <a:ea typeface="Helvetica"/>
                <a:cs typeface="Helvetica"/>
              </a:defRPr>
            </a:pPr>
            <a:r>
              <a:rPr sz="1950" b="1">
                <a:solidFill>
                  <a:srgbClr val="123B5D"/>
                </a:solidFill>
                <a:latin typeface="Helvetica"/>
                <a:ea typeface="Helvetica"/>
                <a:cs typeface="Helvetica"/>
              </a:rPr>
              <a:t>Bilhete de saída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14D05D-51F2-48F3-A4B1-F4625169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990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Qual foi a diferença entre um dado ausente e um dado inválido?</a:t>
            </a:r>
          </a:p>
          <a:p xmlns:a="http://schemas.openxmlformats.org/drawingml/2006/main">
            <a:pPr>
              <a:defRPr sz="1725" b="1">
                <a:solidFill>
                  <a:srgbClr val="17324D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17324D"/>
                </a:solidFill>
                <a:latin typeface="Helvetica"/>
                <a:ea typeface="Helvetica"/>
                <a:cs typeface="Helvetica"/>
              </a:rPr>
              <a:t>Qual comando você usaria para conhecer o tamanho da base?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379359-6880-4564-9C67-79EA8076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A5A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0EA5A8"/>
                </a:solidFill>
                <a:latin typeface="Helvetica"/>
                <a:ea typeface="Helvetica"/>
                <a:cs typeface="Helvetica"/>
              </a:rPr>
              <a:t>Compartilhe uma resposta ou uma captura de tela do seu resultado.</a:t>
            </a:r>
          </a:p>
        </p:txBody>
      </p:sp>
    </p:spTree>
    <p:extLst>
      <p:ext uri="{BB962C8B-B14F-4D97-AF65-F5344CB8AC3E}">
        <p14:creationId xmlns:p14="http://schemas.microsoft.com/office/powerpoint/2010/main" val="1614290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2026-09-09T17:15:50.8280000Z</dcterms:created>
  <dcterms:modified xsi:type="dcterms:W3CDTF">2026-09-09T17:15:50.8280000Z</dcterms:modified>
</coreProperties>
</file>